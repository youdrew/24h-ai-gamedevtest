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image" Target="../media/image-14-8.png"/><Relationship Id="rId9" Type="http://schemas.openxmlformats.org/officeDocument/2006/relationships/image" Target="../media/image-1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94944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C4899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46520" y="3246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6B6D4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52360" y="3246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0" y="3749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9E0B">
              <a:alpha val="24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949440" y="3749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C4899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46520" y="4251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6B6D4">
              <a:alpha val="1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52360" y="425196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8B5CF6">
              <a:alpha val="1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0" y="274320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949440" y="324612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0" y="3749040"/>
            <a:ext cx="411480" cy="411480"/>
          </a:xfrm>
          <a:prstGeom prst="roundRect">
            <a:avLst>
              <a:gd name="adj" fmla="val 17778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45720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67512" y="45720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77824" y="45720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88136" y="45720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1188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HIGHLIGHTS · 项目亮点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155448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Explorer Web</a:t>
            </a:r>
            <a:endParaRPr lang="en-US" sz="5200" dirty="0"/>
          </a:p>
        </p:txBody>
      </p:sp>
      <p:sp>
        <p:nvSpPr>
          <p:cNvPr id="19" name="Text 17"/>
          <p:cNvSpPr/>
          <p:nvPr/>
        </p:nvSpPr>
        <p:spPr>
          <a:xfrm>
            <a:off x="457200" y="25146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一款零广告、零注册、打开即玩的浏览器三消解谜游戏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72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产品理念  </a:t>
            </a:r>
            <a:pPr indent="0" marL="0">
              <a:buNone/>
            </a:pPr>
            <a:r>
              <a:rPr lang="en-US" sz="1300" spc="200" kern="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pPr indent="0" marL="0">
              <a:buNone/>
            </a:pPr>
            <a:r>
              <a:rPr lang="en-US" sz="1300" b="1" spc="200" kern="0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工程深度  </a:t>
            </a:r>
            <a:pPr indent="0" marL="0">
              <a:buNone/>
            </a:pPr>
            <a:r>
              <a:rPr lang="en-US" sz="1300" spc="200" kern="0" dirty="0">
                <a:solidFill>
                  <a:srgbClr val="4755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·  </a:t>
            </a:r>
            <a:pPr indent="0" marL="0">
              <a:buNone/>
            </a:pPr>
            <a:r>
              <a:rPr lang="en-US" sz="1300" b="1" spc="200" kern="0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零成本架构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57200" y="4160520"/>
            <a:ext cx="109728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 · CONTENTS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十一个亮点 · 一份诚意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从产品定位到工程细节,系统化梳理项目的设计深度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691640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69164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764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1984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产品理念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1792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无广告 · PWA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496312" y="1691640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6312" y="169164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60904" y="1764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60904" y="1984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660904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零成本免登录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35424" y="1691640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5424" y="169164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764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0016" y="1984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数据驱动架构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00016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表格化配置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574536" y="1691640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4536" y="1691640"/>
            <a:ext cx="54864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39128" y="17647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739128" y="198424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数学可解性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739128" y="22585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推导公式 + 求解器验证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2724912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2724912"/>
            <a:ext cx="54864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27980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1792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程序化音效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21792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Audio + 音乐理论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496312" y="2724912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96312" y="2724912"/>
            <a:ext cx="54864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60904" y="27980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660904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连击系统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2660904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个版本的迭代演进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535424" y="2724912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35424" y="2724912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0016" y="27980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0016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工程亮点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4700016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心理学 · 性能 · 缓存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6574536" y="2724912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74536" y="2724912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39128" y="27980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6739128" y="30175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安全设计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739128" y="329184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RLS · XSS · 双重校验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3758184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57200" y="3758184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1792" y="38313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621792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621792" y="4325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触摸 · 安全区 · 振动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2496312" y="3758184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2496312" y="3758184"/>
            <a:ext cx="54864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660904" y="38313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660904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2660904" y="4325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PixiJS · Supabase · PWA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535424" y="3758184"/>
            <a:ext cx="187452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535424" y="3758184"/>
            <a:ext cx="54864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700016" y="383133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4700016" y="40507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项目规模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4700016" y="4325112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元/月 · 14 模块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产品理念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极致纯净的解谜体验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在主流三消依靠广告和内购变现的市场里,我们选了另一条路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4023360" cy="283464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057400"/>
            <a:ext cx="411480" cy="41148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无广告 · 零注册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85800" y="26517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完全免费</a:t>
            </a:r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:没有插屏广告、没有激励视频、没有内购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免下载、免注册、免账号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一个浏览器链接即可触达用户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道具来自关卡奖励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每通一关奖励一个,玩家需要策略性使用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4663440" y="1783080"/>
            <a:ext cx="4023360" cy="283464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2057400"/>
            <a:ext cx="411480" cy="41148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440680" y="2057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PWA · 浏览器里的原生应用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4892040" y="2651760"/>
            <a:ext cx="3611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安装到主屏幕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在手机上获得几乎一致的原生体验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完全离线游玩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Worker 三级缓存(排行榜需联网)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400" dirty="0">
                <a:solidFill>
                  <a:srgbClr val="0000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无需上架应用商店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用户获取成本极低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排行榜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零成本免登录的在线排名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Supabase 免费层把后端成本压到 0 元/月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657600" cy="2834640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7452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¥ 0</a:t>
            </a:r>
            <a:endParaRPr lang="en-US" sz="7800" dirty="0"/>
          </a:p>
        </p:txBody>
      </p:sp>
      <p:sp>
        <p:nvSpPr>
          <p:cNvPr id="12" name="Text 10"/>
          <p:cNvSpPr/>
          <p:nvPr/>
        </p:nvSpPr>
        <p:spPr>
          <a:xfrm>
            <a:off x="457200" y="28803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月后端成本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94360" y="32918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数据库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" y="3511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MB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 10 MB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55648" y="32918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API 请求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755648" y="3511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无限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755648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仅通关时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916936" y="3291840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月活用户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916936" y="351129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MAU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2916936" y="384048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远低于此</a:t>
            </a:r>
            <a:endParaRPr lang="en-US" sz="10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89120" y="1892808"/>
            <a:ext cx="384048" cy="38404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4892040" y="18288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用户识别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4892040" y="210312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首次访问生成 UUID 存 localStorage,无需注册</a:t>
            </a:r>
            <a:endParaRPr lang="en-US" sz="1050" dirty="0"/>
          </a:p>
        </p:txBody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2569464"/>
            <a:ext cx="384048" cy="384048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892040" y="250545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排名维度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4892040" y="2779776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总星数优先,同星数按最少步数排序</a:t>
            </a:r>
            <a:endParaRPr lang="en-US" sz="1050" dirty="0"/>
          </a:p>
        </p:txBody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246120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4892040" y="31821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数据安全</a:t>
            </a:r>
            <a:endParaRPr lang="en-US" sz="1400" dirty="0"/>
          </a:p>
        </p:txBody>
      </p:sp>
      <p:sp>
        <p:nvSpPr>
          <p:cNvPr id="30" name="Text 25"/>
          <p:cNvSpPr/>
          <p:nvPr/>
        </p:nvSpPr>
        <p:spPr>
          <a:xfrm>
            <a:off x="4892040" y="345643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行级安全 + SECURITY DEFINER 函数</a:t>
            </a:r>
            <a:endParaRPr lang="en-US" sz="1050" dirty="0"/>
          </a:p>
        </p:txBody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3922776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4892040" y="38587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离线支持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4892040" y="4133088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成绩先存本地队列,网络恢复后自动提交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4389120" y="4526280"/>
            <a:ext cx="411480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4389120" y="45720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为什么不用 IP?  NAT 共享 · IP 频繁变化 · 隐私合规风险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数据驱动架构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难度曲线是张可编辑的表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策划改难度不需要碰任何游戏逻辑代码——直接编辑配置文件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4937760" cy="2788920"/>
          </a:xfrm>
          <a:prstGeom prst="rect">
            <a:avLst/>
          </a:prstGeom>
          <a:solidFill>
            <a:srgbClr val="0F17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4937760" cy="2743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7830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js/difficulty.js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921758" y="1874520"/>
            <a:ext cx="91440" cy="9144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997196" y="187452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72634" y="1874520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2148840"/>
            <a:ext cx="466344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084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</a:t>
            </a:r>
            <a:pPr indent="0" marL="0">
              <a:buNone/>
            </a:pPr>
            <a:r>
              <a:rPr lang="en-US" sz="1100" dirty="0">
                <a:solidFill>
                  <a:srgbClr val="60A5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DIFFICULTY_KEYFRAMES 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 [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level:   1, patternTypes:  3, layers: 2 },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9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level:   5, patternTypes:  6, layers: 3 },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18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level:  10, patternTypes:  8, layers: 3 },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48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level:  50, patternTypes: 20, layers: 6 },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180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{ level: 300, patternTypes: 28, layers: 8 },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504
</a:t>
            </a:r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... 共 18 条关键帧
</a:t>
            </a:r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];
</a:t>
            </a:r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中间关卡自动从前一条关键帧取值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577840" y="1828800"/>
            <a:ext cx="3108960" cy="841248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77840" y="1828800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965960"/>
            <a:ext cx="292608" cy="292608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6126480" y="192024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策划友好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126480" y="22128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运营改一个数字就能调整难度曲线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5577840" y="2788920"/>
            <a:ext cx="3108960" cy="841248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577840" y="2788920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2432" y="2926080"/>
            <a:ext cx="292608" cy="292608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6126480" y="28803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零回归风险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126480" y="317296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不触碰逻辑代码,改完即生效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5577840" y="3749040"/>
            <a:ext cx="3108960" cy="841248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5577840" y="3749040"/>
            <a:ext cx="54864" cy="84124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3886200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126480" y="3840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插值灵活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6126480" y="413308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关键帧 / 线性插值两种模式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数据驱动架构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道具与主题——同样的声明式哲学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新增一个道具/主题,只需在配置表里加一条记录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种道具 · 完全声明式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1280160" cy="100584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0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🔄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洗牌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Lv.1 · 上限 9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28800" y="2057400"/>
            <a:ext cx="1280160" cy="100584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828800" y="2130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↩️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82880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撤销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82880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Lv.1 · 上限 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0" y="2057400"/>
            <a:ext cx="1280160" cy="100584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0" y="2130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💡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3200400" y="2560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提示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200400" y="2788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Lv.1 · 上限 9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200400"/>
            <a:ext cx="1280160" cy="100584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273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🗑️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457200" y="3703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扔垃圾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3931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Lv.5 · 上限 5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828800" y="3200400"/>
            <a:ext cx="1280160" cy="100584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3273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💣</a:t>
            </a:r>
            <a:endParaRPr lang="en-US" sz="2600" dirty="0"/>
          </a:p>
        </p:txBody>
      </p:sp>
      <p:sp>
        <p:nvSpPr>
          <p:cNvPr id="29" name="Text 27"/>
          <p:cNvSpPr/>
          <p:nvPr/>
        </p:nvSpPr>
        <p:spPr>
          <a:xfrm>
            <a:off x="1828800" y="3703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炸弹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828800" y="3931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Lv.10 · 上限 5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0" y="3200400"/>
            <a:ext cx="1280160" cy="100584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00400" y="3273552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❄️</a:t>
            </a:r>
            <a:endParaRPr lang="en-US" sz="2600" dirty="0"/>
          </a:p>
        </p:txBody>
      </p:sp>
      <p:sp>
        <p:nvSpPr>
          <p:cNvPr id="33" name="Text 31"/>
          <p:cNvSpPr/>
          <p:nvPr/>
        </p:nvSpPr>
        <p:spPr>
          <a:xfrm>
            <a:off x="3200400" y="370332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冰冻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3200400" y="393192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Lv.51 · 上限 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09160" y="1828800"/>
            <a:ext cx="0" cy="274320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37760" y="16916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套主题 · 每 3 关轮换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937760" y="2057400"/>
            <a:ext cx="1783080" cy="566928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937760" y="2057400"/>
            <a:ext cx="54864" cy="566928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074920" y="2167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🍎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5532120" y="205740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缤纷果园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812280" y="2057400"/>
            <a:ext cx="1783080" cy="566928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812280" y="2057400"/>
            <a:ext cx="54864" cy="566928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49440" y="21671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🐯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7406640" y="2057400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奇趣动物园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937760" y="2770632"/>
            <a:ext cx="1783080" cy="566928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937760" y="2770632"/>
            <a:ext cx="54864" cy="566928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7492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🌸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5532120" y="277063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春日庭院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6812280" y="2770632"/>
            <a:ext cx="1783080" cy="566928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812280" y="2770632"/>
            <a:ext cx="54864" cy="566928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49440" y="288036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🚀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7406640" y="2770632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星际探险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4937760" y="3483864"/>
            <a:ext cx="1783080" cy="566928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37760" y="3483864"/>
            <a:ext cx="54864" cy="566928"/>
          </a:xfrm>
          <a:prstGeom prst="rect">
            <a:avLst/>
          </a:prstGeom>
          <a:solidFill>
            <a:srgbClr val="DC2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74920" y="3593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🍜</a:t>
            </a:r>
            <a:endParaRPr lang="en-US" sz="1800" dirty="0"/>
          </a:p>
        </p:txBody>
      </p:sp>
      <p:sp>
        <p:nvSpPr>
          <p:cNvPr id="56" name="Text 54"/>
          <p:cNvSpPr/>
          <p:nvPr/>
        </p:nvSpPr>
        <p:spPr>
          <a:xfrm>
            <a:off x="5532120" y="348386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环球美食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6812280" y="3483864"/>
            <a:ext cx="1783080" cy="566928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812280" y="3483864"/>
            <a:ext cx="54864" cy="566928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949440" y="359359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👾</a:t>
            </a:r>
            <a:endParaRPr lang="en-US" sz="1800" dirty="0"/>
          </a:p>
        </p:txBody>
      </p:sp>
      <p:sp>
        <p:nvSpPr>
          <p:cNvPr id="60" name="Text 58"/>
          <p:cNvSpPr/>
          <p:nvPr/>
        </p:nvSpPr>
        <p:spPr>
          <a:xfrm>
            <a:off x="7406640" y="3483864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像素冒险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4937760" y="4251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每个主题有独立的 32 emoji 图案库 · 背景图 · 背景音乐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数学可解性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从根源消除"无解关卡"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推导式公式 + 金字塔约束 + 求解器三重保险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373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tileCount  =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patternTypes</a:t>
            </a:r>
            <a:pPr algn="ctr" indent="0" marL="0">
              <a:buNone/>
            </a:pPr>
            <a:r>
              <a:rPr lang="en-US" sz="22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 </a:t>
            </a:r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setsPerType</a:t>
            </a:r>
            <a:pPr algn="ctr" indent="0" marL="0">
              <a:buNone/>
            </a:pPr>
            <a:r>
              <a:rPr lang="en-US" sz="2200" dirty="0">
                <a:solidFill>
                  <a:srgbClr val="DDD6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×  </a:t>
            </a:r>
            <a:pPr algn="ctr"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瓦片数总是 3 的倍数 · 不存在"剩 1 块消不掉"的情况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2606040" cy="141732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0" y="3273552"/>
            <a:ext cx="292608" cy="292608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0080" y="3520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推导公式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640080" y="3822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总瓦片数由公式生成,而非独立配置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40080" y="4224528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40080" y="42702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 中曾出现 15÷4=3.75 的错误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268980" y="3108960"/>
            <a:ext cx="2606040" cy="141732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345186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2100" y="3273552"/>
            <a:ext cx="292608" cy="292608"/>
          </a:xfrm>
          <a:prstGeom prst="rect">
            <a:avLst/>
          </a:prstGeom>
        </p:spPr>
      </p:pic>
      <p:sp>
        <p:nvSpPr>
          <p:cNvPr id="23" name="Text 19"/>
          <p:cNvSpPr/>
          <p:nvPr/>
        </p:nvSpPr>
        <p:spPr>
          <a:xfrm>
            <a:off x="3451860" y="3520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金字塔约束</a:t>
            </a:r>
            <a:endParaRPr lang="en-US" sz="1400" dirty="0"/>
          </a:p>
        </p:txBody>
      </p:sp>
      <p:sp>
        <p:nvSpPr>
          <p:cNvPr id="24" name="Text 20"/>
          <p:cNvSpPr/>
          <p:nvPr/>
        </p:nvSpPr>
        <p:spPr>
          <a:xfrm>
            <a:off x="3451860" y="3822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上层瓦片严格是下层的子集</a:t>
            </a:r>
            <a:endParaRPr lang="en-US" sz="1050" dirty="0"/>
          </a:p>
        </p:txBody>
      </p:sp>
      <p:sp>
        <p:nvSpPr>
          <p:cNvPr id="25" name="Shape 21"/>
          <p:cNvSpPr/>
          <p:nvPr/>
        </p:nvSpPr>
        <p:spPr>
          <a:xfrm>
            <a:off x="3451860" y="4224528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3451860" y="42702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保证玩家可从底层逐层解锁</a:t>
            </a:r>
            <a:endParaRPr lang="en-US" sz="900" dirty="0"/>
          </a:p>
        </p:txBody>
      </p:sp>
      <p:sp>
        <p:nvSpPr>
          <p:cNvPr id="27" name="Shape 23"/>
          <p:cNvSpPr/>
          <p:nvPr/>
        </p:nvSpPr>
        <p:spPr>
          <a:xfrm>
            <a:off x="6080760" y="3108960"/>
            <a:ext cx="2606040" cy="141732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263640" y="32461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80" y="3273552"/>
            <a:ext cx="292608" cy="292608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6263640" y="3520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求解器验证</a:t>
            </a:r>
            <a:endParaRPr lang="en-US" sz="1400" dirty="0"/>
          </a:p>
        </p:txBody>
      </p:sp>
      <p:sp>
        <p:nvSpPr>
          <p:cNvPr id="31" name="Text 26"/>
          <p:cNvSpPr/>
          <p:nvPr/>
        </p:nvSpPr>
        <p:spPr>
          <a:xfrm>
            <a:off x="6263640" y="382219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Worker 回溯搜索,确认存在通关路径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263640" y="4224528"/>
            <a:ext cx="224028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6263640" y="4270248"/>
            <a:ext cx="2240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同时记录最优步数(用于星级评分)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程序化音效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 Web Audio API 实时合成全部音效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零文件 · 零网络请求 · 动态参数 · 仅几 KB 代码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3291840" cy="841248"/>
          </a:xfrm>
          <a:prstGeom prst="rect">
            <a:avLst/>
          </a:prstGeom>
          <a:solidFill>
            <a:srgbClr val="FCE7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84248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零网络请求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219456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不增加首屏加载时间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457200" y="2743200"/>
            <a:ext cx="3291840" cy="841248"/>
          </a:xfrm>
          <a:prstGeom prst="rect">
            <a:avLst/>
          </a:prstGeom>
          <a:solidFill>
            <a:srgbClr val="FCE7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944368"/>
            <a:ext cx="457200" cy="45720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28346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动态参数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23444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连击时音效实时升调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57200" y="3703320"/>
            <a:ext cx="3291840" cy="841248"/>
          </a:xfrm>
          <a:prstGeom prst="rect">
            <a:avLst/>
          </a:prstGeom>
          <a:solidFill>
            <a:srgbClr val="FCE7F3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904488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234440" y="379476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体积极小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234440" y="41148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音效代码总共仅几 KB</a:t>
            </a:r>
            <a:endParaRPr lang="en-US" sz="1100" dirty="0"/>
          </a:p>
        </p:txBody>
      </p:sp>
      <p:sp>
        <p:nvSpPr>
          <p:cNvPr id="22" name="Text 17"/>
          <p:cNvSpPr/>
          <p:nvPr/>
        </p:nvSpPr>
        <p:spPr>
          <a:xfrm>
            <a:off x="4023360" y="1783080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连击音效 · 基于 C 大调音阶的和弦递进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023360" y="2194560"/>
            <a:ext cx="4663440" cy="292608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114800" y="2194560"/>
            <a:ext cx="502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连击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617720" y="219456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和弦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309360" y="219456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波形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4187952" y="2564892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389120" y="248716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4709160" y="248716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大三和弦</a:t>
            </a:r>
            <a:endParaRPr lang="en-US" sz="1050" dirty="0"/>
          </a:p>
        </p:txBody>
      </p:sp>
      <p:sp>
        <p:nvSpPr>
          <p:cNvPr id="30" name="Text 25"/>
          <p:cNvSpPr/>
          <p:nvPr/>
        </p:nvSpPr>
        <p:spPr>
          <a:xfrm>
            <a:off x="6446520" y="2487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三角波 · 温暖</a:t>
            </a:r>
            <a:endParaRPr lang="en-US" sz="1000" dirty="0"/>
          </a:p>
        </p:txBody>
      </p:sp>
      <p:sp>
        <p:nvSpPr>
          <p:cNvPr id="31" name="Shape 26"/>
          <p:cNvSpPr/>
          <p:nvPr/>
        </p:nvSpPr>
        <p:spPr>
          <a:xfrm>
            <a:off x="4023360" y="2779776"/>
            <a:ext cx="4663440" cy="292608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187952" y="2857500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4389120" y="277977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4709160" y="2779776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 小三和弦</a:t>
            </a:r>
            <a:endParaRPr lang="en-US" sz="1050" dirty="0"/>
          </a:p>
        </p:txBody>
      </p:sp>
      <p:sp>
        <p:nvSpPr>
          <p:cNvPr id="35" name="Text 30"/>
          <p:cNvSpPr/>
          <p:nvPr/>
        </p:nvSpPr>
        <p:spPr>
          <a:xfrm>
            <a:off x="6446520" y="2779776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三角波</a:t>
            </a:r>
            <a:endParaRPr lang="en-US" sz="1000" dirty="0"/>
          </a:p>
        </p:txBody>
      </p:sp>
      <p:sp>
        <p:nvSpPr>
          <p:cNvPr id="36" name="Shape 31"/>
          <p:cNvSpPr/>
          <p:nvPr/>
        </p:nvSpPr>
        <p:spPr>
          <a:xfrm>
            <a:off x="4187952" y="3150108"/>
            <a:ext cx="146304" cy="146304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389120" y="3072384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00" dirty="0"/>
          </a:p>
        </p:txBody>
      </p:sp>
      <p:sp>
        <p:nvSpPr>
          <p:cNvPr id="38" name="Text 33"/>
          <p:cNvSpPr/>
          <p:nvPr/>
        </p:nvSpPr>
        <p:spPr>
          <a:xfrm>
            <a:off x="4709160" y="3072384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 大三和弦</a:t>
            </a:r>
            <a:endParaRPr lang="en-US" sz="1050" dirty="0"/>
          </a:p>
        </p:txBody>
      </p:sp>
      <p:sp>
        <p:nvSpPr>
          <p:cNvPr id="39" name="Text 34"/>
          <p:cNvSpPr/>
          <p:nvPr/>
        </p:nvSpPr>
        <p:spPr>
          <a:xfrm>
            <a:off x="6446520" y="30723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三角波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4023360" y="3364992"/>
            <a:ext cx="4663440" cy="292608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6"/>
          <p:cNvSpPr/>
          <p:nvPr/>
        </p:nvSpPr>
        <p:spPr>
          <a:xfrm>
            <a:off x="4187952" y="3442716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4389120" y="3364992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00" dirty="0"/>
          </a:p>
        </p:txBody>
      </p:sp>
      <p:sp>
        <p:nvSpPr>
          <p:cNvPr id="43" name="Text 38"/>
          <p:cNvSpPr/>
          <p:nvPr/>
        </p:nvSpPr>
        <p:spPr>
          <a:xfrm>
            <a:off x="4709160" y="3364992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Am 小三和弦</a:t>
            </a:r>
            <a:endParaRPr lang="en-US" sz="1050" dirty="0"/>
          </a:p>
        </p:txBody>
      </p:sp>
      <p:sp>
        <p:nvSpPr>
          <p:cNvPr id="44" name="Text 39"/>
          <p:cNvSpPr/>
          <p:nvPr/>
        </p:nvSpPr>
        <p:spPr>
          <a:xfrm>
            <a:off x="6446520" y="3364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锯齿波 · 明亮</a:t>
            </a:r>
            <a:endParaRPr lang="en-US" sz="1000" dirty="0"/>
          </a:p>
        </p:txBody>
      </p:sp>
      <p:sp>
        <p:nvSpPr>
          <p:cNvPr id="45" name="Shape 40"/>
          <p:cNvSpPr/>
          <p:nvPr/>
        </p:nvSpPr>
        <p:spPr>
          <a:xfrm>
            <a:off x="4187952" y="3735324"/>
            <a:ext cx="146304" cy="146304"/>
          </a:xfrm>
          <a:prstGeom prst="ellipse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1"/>
          <p:cNvSpPr/>
          <p:nvPr/>
        </p:nvSpPr>
        <p:spPr>
          <a:xfrm>
            <a:off x="4389120" y="365760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100" dirty="0"/>
          </a:p>
        </p:txBody>
      </p:sp>
      <p:sp>
        <p:nvSpPr>
          <p:cNvPr id="47" name="Text 42"/>
          <p:cNvSpPr/>
          <p:nvPr/>
        </p:nvSpPr>
        <p:spPr>
          <a:xfrm>
            <a:off x="4709160" y="3657600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高八度</a:t>
            </a:r>
            <a:endParaRPr lang="en-US" sz="1050" dirty="0"/>
          </a:p>
        </p:txBody>
      </p:sp>
      <p:sp>
        <p:nvSpPr>
          <p:cNvPr id="48" name="Text 43"/>
          <p:cNvSpPr/>
          <p:nvPr/>
        </p:nvSpPr>
        <p:spPr>
          <a:xfrm>
            <a:off x="6446520" y="365760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锯齿波</a:t>
            </a:r>
            <a:endParaRPr lang="en-US" sz="1000" dirty="0"/>
          </a:p>
        </p:txBody>
      </p:sp>
      <p:sp>
        <p:nvSpPr>
          <p:cNvPr id="49" name="Shape 44"/>
          <p:cNvSpPr/>
          <p:nvPr/>
        </p:nvSpPr>
        <p:spPr>
          <a:xfrm>
            <a:off x="4023360" y="3950208"/>
            <a:ext cx="4663440" cy="292608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Shape 45"/>
          <p:cNvSpPr/>
          <p:nvPr/>
        </p:nvSpPr>
        <p:spPr>
          <a:xfrm>
            <a:off x="4187952" y="4027932"/>
            <a:ext cx="146304" cy="146304"/>
          </a:xfrm>
          <a:prstGeom prst="ellipse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4389120" y="3950208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52" name="Text 47"/>
          <p:cNvSpPr/>
          <p:nvPr/>
        </p:nvSpPr>
        <p:spPr>
          <a:xfrm>
            <a:off x="4709160" y="3950208"/>
            <a:ext cx="1691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雷鸣 + 电击</a:t>
            </a:r>
            <a:endParaRPr lang="en-US" sz="1050" dirty="0"/>
          </a:p>
        </p:txBody>
      </p:sp>
      <p:sp>
        <p:nvSpPr>
          <p:cNvPr id="53" name="Text 48"/>
          <p:cNvSpPr/>
          <p:nvPr/>
        </p:nvSpPr>
        <p:spPr>
          <a:xfrm>
            <a:off x="6446520" y="395020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白噪声扫频</a:t>
            </a:r>
            <a:endParaRPr lang="en-US" sz="1000" dirty="0"/>
          </a:p>
        </p:txBody>
      </p:sp>
      <p:sp>
        <p:nvSpPr>
          <p:cNvPr id="54" name="Text 49"/>
          <p:cNvSpPr/>
          <p:nvPr/>
        </p:nvSpPr>
        <p:spPr>
          <a:xfrm>
            <a:off x="4023360" y="4334256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BGM Ducking:音效播放时 BGM 自动 -6dB,200ms 后平滑恢复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连击系统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Combo 系统的 4 次迭代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每一版都解决了前一版的问题——最终落到"只增不减"的设计哲学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8229600" cy="384048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8308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52044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v1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80060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6080760" y="1783080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360920" y="178308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v4 (当前)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94360" y="2167128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combo +1 条件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20440" y="2167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任何三消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2167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同图案连续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080760" y="2167128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链内 ≥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60920" y="216712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 v3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2551176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551176"/>
            <a:ext cx="8229600" cy="384048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255117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切换图案是否清零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20440" y="25511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—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25511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080760" y="2551176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60920" y="25511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57200" y="2935224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4360" y="2935224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超时是否清零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20440" y="2935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2935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080760" y="2935224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7360920" y="293522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否(已废弃)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57200" y="3319272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57200" y="3319272"/>
            <a:ext cx="8229600" cy="384048"/>
          </a:xfrm>
          <a:prstGeom prst="rect">
            <a:avLst/>
          </a:prstGeom>
          <a:solidFill>
            <a:srgbClr val="FAFAF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4360" y="3319272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闪电触发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3520440" y="3319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 自动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800600" y="3319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≥5 自动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6080760" y="3319272"/>
            <a:ext cx="1188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 10 手动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360920" y="331927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满 10 自动 + 归零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370332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" y="3931920"/>
            <a:ext cx="8229600" cy="777240"/>
          </a:xfrm>
          <a:prstGeom prst="rect">
            <a:avLst/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7200" y="3931920"/>
            <a:ext cx="73152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4123944"/>
            <a:ext cx="384048" cy="38404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1143000" y="397764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设计哲学:Combo 只增不减</a:t>
            </a:r>
            <a:endParaRPr lang="en-US" sz="1400" dirty="0"/>
          </a:p>
        </p:txBody>
      </p:sp>
      <p:sp>
        <p:nvSpPr>
          <p:cNvPr id="46" name="Text 43"/>
          <p:cNvSpPr/>
          <p:nvPr/>
        </p:nvSpPr>
        <p:spPr>
          <a:xfrm>
            <a:off x="114300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玩家不会因"切错图案"或"想了一会儿"被惩罚 · 满 10 自动释放闪电后归零,形成持续的正反馈循环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工程亮点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细节里藏着心理学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瓦片透明度不是线性递减,而是基于韦伯-费希纳定律的指数衰减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4114800" cy="1097280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78308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C7D2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 =  </a:t>
            </a:r>
            <a:pPr algn="ctr" indent="0" marL="0">
              <a:buNone/>
            </a:pPr>
            <a:r>
              <a:rPr lang="en-US" sz="24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0.85</a:t>
            </a:r>
            <a:pPr algn="ctr"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^depth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237744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最低不低于 0.4,确保最底层瓦片仍可见</a:t>
            </a:r>
            <a:endParaRPr lang="en-US" sz="105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3108960"/>
            <a:ext cx="384048" cy="384048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914400" y="310896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韦伯-费希纳定律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457200" y="3520440"/>
            <a:ext cx="4114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人类对亮度的感知是对数关系——指数递减让玩家觉得"每层变化均匀",而线性递减在深层会显得"突然消失"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4937760" y="17830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 vs 指数衰减 (depth 0–4)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214884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线性 (1.0, 0.8, 0.6, 0.4, 0.2)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937760" y="24231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937760" y="3108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5650992" y="24231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8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50992" y="3108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364224" y="24231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364224" y="3108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077456" y="24231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077456" y="3108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7790688" y="242316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790688" y="310896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4937760" y="34747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指数 (1.0, 0.85, 0.72, 0.61, 0.52)  ✓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937760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937760" y="44348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</a:t>
            </a:r>
            <a:endParaRPr lang="en-US" sz="900" dirty="0"/>
          </a:p>
        </p:txBody>
      </p:sp>
      <p:sp>
        <p:nvSpPr>
          <p:cNvPr id="31" name="Shape 28"/>
          <p:cNvSpPr/>
          <p:nvPr/>
        </p:nvSpPr>
        <p:spPr>
          <a:xfrm>
            <a:off x="5650992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8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650992" y="44348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900" dirty="0"/>
          </a:p>
        </p:txBody>
      </p:sp>
      <p:sp>
        <p:nvSpPr>
          <p:cNvPr id="33" name="Shape 30"/>
          <p:cNvSpPr/>
          <p:nvPr/>
        </p:nvSpPr>
        <p:spPr>
          <a:xfrm>
            <a:off x="6364224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7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364224" y="44348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7077456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61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7077456" y="44348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</a:t>
            </a:r>
            <a:endParaRPr lang="en-US" sz="900" dirty="0"/>
          </a:p>
        </p:txBody>
      </p:sp>
      <p:sp>
        <p:nvSpPr>
          <p:cNvPr id="37" name="Shape 34"/>
          <p:cNvSpPr/>
          <p:nvPr/>
        </p:nvSpPr>
        <p:spPr>
          <a:xfrm>
            <a:off x="7790688" y="3749040"/>
            <a:ext cx="640080" cy="640080"/>
          </a:xfrm>
          <a:prstGeom prst="roundRect">
            <a:avLst>
              <a:gd name="adj" fmla="val 11429"/>
            </a:avLst>
          </a:prstGeom>
          <a:solidFill>
            <a:srgbClr val="F59E0B">
              <a:alpha val="52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7790688" y="443484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工程亮点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性能:从 O(n²) 到稳定 60fps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覆盖关系实时计算 + 粒子特效——两个常见性能陷阱的工程化解法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4023360" cy="283464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659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234440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空间哈希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1234440" y="2258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覆盖关系计算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40080" y="2697480"/>
            <a:ext cx="178308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269748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91B1B"/>
                </a:solidFill>
              </a:rPr>
              <a:t>暴力遍历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991B1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O(n²)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423160" y="269748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4748B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2788920" y="2697480"/>
            <a:ext cx="15544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788920" y="269748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5F46"/>
                </a:solidFill>
              </a:rPr>
              <a:t>空间哈希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O(n)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40080" y="3337560"/>
            <a:ext cx="3657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将瓦片按网格坐标分组,每个瓦片只检查周围 9 个格子——上百瓦片实时判断覆盖也不卡顿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663440" y="1783080"/>
            <a:ext cx="4023360" cy="283464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65960"/>
            <a:ext cx="457200" cy="45720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40680" y="196596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粒子对象池</a:t>
            </a:r>
            <a:endParaRPr lang="en-US" sz="1600" dirty="0"/>
          </a:p>
        </p:txBody>
      </p:sp>
      <p:sp>
        <p:nvSpPr>
          <p:cNvPr id="23" name="Text 19"/>
          <p:cNvSpPr/>
          <p:nvPr/>
        </p:nvSpPr>
        <p:spPr>
          <a:xfrm>
            <a:off x="5440680" y="22585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60fps 稳定输出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846320" y="26974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5600" dirty="0"/>
          </a:p>
        </p:txBody>
      </p:sp>
      <p:sp>
        <p:nvSpPr>
          <p:cNvPr id="25" name="Text 21"/>
          <p:cNvSpPr/>
          <p:nvPr/>
        </p:nvSpPr>
        <p:spPr>
          <a:xfrm>
            <a:off x="4846320" y="3456432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个粒子预分配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6400800" y="278892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用完后回收再利用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避免运行时 GC 导致的帧率抖动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4846320" y="38862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适用于消除特效的高频小对象——避免每帧 new/dispose,让浏览器跳过 GC 暂停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工程亮点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Worker 三级缓存策略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对不同资源用不同策略——离线可用与内容新鲜度之间的最优平衡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697480" cy="278892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2697480" cy="45720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静态资源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40080" y="2670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 / CSS / HTML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063240"/>
            <a:ext cx="2331720" cy="411480"/>
          </a:xfrm>
          <a:prstGeom prst="rect">
            <a:avLst/>
          </a:prstGeom>
          <a:solidFill>
            <a:srgbClr val="CFFAF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First (Precache)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Worker 安装时预缓存,首次离线即可用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19272" y="1783080"/>
            <a:ext cx="2697480" cy="278892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319272" y="1783080"/>
            <a:ext cx="2697480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02152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2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02152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CDN 资源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3502152" y="2670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PixiJS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502152" y="3063240"/>
            <a:ext cx="2331720" cy="411480"/>
          </a:xfrm>
          <a:prstGeom prst="rect">
            <a:avLst/>
          </a:prstGeom>
          <a:solidFill>
            <a:srgbClr val="FEF3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02152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Cache First, Fallback to Network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02152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缓存优先,失败回退网络;双 CDN 容灾(jsDelivr → cdnjs)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181344" y="1783080"/>
            <a:ext cx="2697480" cy="278892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81344" y="1783080"/>
            <a:ext cx="2697480" cy="45720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64224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Tier 3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364224" y="2377440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主题媒体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6364224" y="2670048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背景图 · BGM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364224" y="3063240"/>
            <a:ext cx="2331720" cy="411480"/>
          </a:xfrm>
          <a:prstGeom prst="rect">
            <a:avLst/>
          </a:prstGeom>
          <a:solidFill>
            <a:srgbClr val="FCE7F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64224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C48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Stale-While-Revalidate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364224" y="361188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先返回缓存(即时显示),后台静默更新——最先进的策略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57200" y="4663440"/>
            <a:ext cx="822960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辅以 ⟶ 竞态安全(递增令牌防快速切换错配) · 分级淘汰(只淘汰布局缓存,永不淘汰求解器结果)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09 安全 与 移动端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安全设计 与 移动端适配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公开服务的两个底线:数据安全 + 触摸友好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4023360" cy="2926080"/>
          </a:xfrm>
          <a:prstGeom prst="rect">
            <a:avLst/>
          </a:prstGeom>
          <a:solidFill>
            <a:srgbClr val="D1FAE5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920240"/>
            <a:ext cx="365760" cy="36576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9728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65F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安全设计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640080" y="25694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RLS 行级安全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数据库表只允许公开读,写入走 SECURITY DEFINER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0080" y="30266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2296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Anon Key 权限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客户端只持公开 anon key,服务端密钥永不下发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640080" y="34838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337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双重输入校验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客户端 + 服务端双重正则(支持中文,1-12 字符)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40080" y="39410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22960" y="3794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XSS 防护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排行榜名插入 DOM 前经 escapeHtml() 处理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640080" y="4398264"/>
            <a:ext cx="91440" cy="914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" y="4251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名称清洗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sanitizeName() 清除 RPC 不接受字符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4663440" y="1783080"/>
            <a:ext cx="4023360" cy="2926080"/>
          </a:xfrm>
          <a:prstGeom prst="rect">
            <a:avLst/>
          </a:prstGeom>
          <a:solidFill>
            <a:srgbClr val="CFFAF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920240"/>
            <a:ext cx="365760" cy="365760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5303520" y="19202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49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移动端适配</a:t>
            </a:r>
            <a:endParaRPr lang="en-US" sz="1600" dirty="0"/>
          </a:p>
        </p:txBody>
      </p:sp>
      <p:sp>
        <p:nvSpPr>
          <p:cNvPr id="26" name="Shape 22"/>
          <p:cNvSpPr/>
          <p:nvPr/>
        </p:nvSpPr>
        <p:spPr>
          <a:xfrm>
            <a:off x="4846320" y="256946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5029200" y="2423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触摸目标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瓦片 48×48px,超过 44px 最小标准</a:t>
            </a:r>
            <a:endParaRPr lang="en-US" sz="1050" dirty="0"/>
          </a:p>
        </p:txBody>
      </p:sp>
      <p:sp>
        <p:nvSpPr>
          <p:cNvPr id="28" name="Shape 24"/>
          <p:cNvSpPr/>
          <p:nvPr/>
        </p:nvSpPr>
        <p:spPr>
          <a:xfrm>
            <a:off x="4846320" y="302666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5029200" y="28803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300ms 延迟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touch-action: manipulation 消除点击延迟</a:t>
            </a:r>
            <a:endParaRPr lang="en-US" sz="1050" dirty="0"/>
          </a:p>
        </p:txBody>
      </p:sp>
      <p:sp>
        <p:nvSpPr>
          <p:cNvPr id="30" name="Shape 26"/>
          <p:cNvSpPr/>
          <p:nvPr/>
        </p:nvSpPr>
        <p:spPr>
          <a:xfrm>
            <a:off x="4846320" y="348386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5029200" y="33375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安全区域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env(safe-area-inset-*) 适配刘海屏</a:t>
            </a:r>
            <a:endParaRPr lang="en-US" sz="1050" dirty="0"/>
          </a:p>
        </p:txBody>
      </p:sp>
      <p:sp>
        <p:nvSpPr>
          <p:cNvPr id="32" name="Shape 28"/>
          <p:cNvSpPr/>
          <p:nvPr/>
        </p:nvSpPr>
        <p:spPr>
          <a:xfrm>
            <a:off x="4846320" y="394106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5029200" y="37947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中文字体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PingFang SC、微软雅黑等中文优先字体栈</a:t>
            </a:r>
            <a:endParaRPr lang="en-US" sz="1050" dirty="0"/>
          </a:p>
        </p:txBody>
      </p:sp>
      <p:sp>
        <p:nvSpPr>
          <p:cNvPr id="34" name="Shape 30"/>
          <p:cNvSpPr/>
          <p:nvPr/>
        </p:nvSpPr>
        <p:spPr>
          <a:xfrm>
            <a:off x="4846320" y="439826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5029200" y="42519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振动反馈</a:t>
            </a:r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点击 10ms · 消除 30ms · 失败 50ms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技术栈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技术栈:每个选择都有理由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 CDN 引入 · 原生 ES Module · 无 Webpack · 无 Babel · 无 npm build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83080"/>
            <a:ext cx="269748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83080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1901952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960120" y="1856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渲染引擎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960120" y="20756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PixiJS v7.3.2 (CDN)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21792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 加速 · 粒子系统 · 层叠点击检测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319272" y="1783080"/>
            <a:ext cx="269748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319272" y="1783080"/>
            <a:ext cx="54864" cy="8686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3864" y="1901952"/>
            <a:ext cx="274320" cy="27432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822192" y="1856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游戏交互</a:t>
            </a:r>
            <a:endParaRPr lang="en-US" sz="950" dirty="0"/>
          </a:p>
        </p:txBody>
      </p:sp>
      <p:sp>
        <p:nvSpPr>
          <p:cNvPr id="20" name="Text 16"/>
          <p:cNvSpPr/>
          <p:nvPr/>
        </p:nvSpPr>
        <p:spPr>
          <a:xfrm>
            <a:off x="3822192" y="20756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PixiJS 全权负责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483864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瓦片、槽位、按钮、特效统一渲染</a:t>
            </a:r>
            <a:endParaRPr lang="en-US" sz="900" dirty="0"/>
          </a:p>
        </p:txBody>
      </p:sp>
      <p:sp>
        <p:nvSpPr>
          <p:cNvPr id="22" name="Shape 18"/>
          <p:cNvSpPr/>
          <p:nvPr/>
        </p:nvSpPr>
        <p:spPr>
          <a:xfrm>
            <a:off x="6181344" y="1783080"/>
            <a:ext cx="269748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181344" y="1783080"/>
            <a:ext cx="54864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1901952"/>
            <a:ext cx="274320" cy="27432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684264" y="1856232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覆盖面板</a:t>
            </a:r>
            <a:endParaRPr lang="en-US" sz="950" dirty="0"/>
          </a:p>
        </p:txBody>
      </p:sp>
      <p:sp>
        <p:nvSpPr>
          <p:cNvPr id="26" name="Text 21"/>
          <p:cNvSpPr/>
          <p:nvPr/>
        </p:nvSpPr>
        <p:spPr>
          <a:xfrm>
            <a:off x="6684264" y="2075688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DOM (HTML/CSS)</a:t>
            </a:r>
            <a:endParaRPr lang="en-US" sz="1200" dirty="0"/>
          </a:p>
        </p:txBody>
      </p:sp>
      <p:sp>
        <p:nvSpPr>
          <p:cNvPr id="27" name="Text 22"/>
          <p:cNvSpPr/>
          <p:nvPr/>
        </p:nvSpPr>
        <p:spPr>
          <a:xfrm>
            <a:off x="6345936" y="235000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排行榜、设置等需要表单输入</a:t>
            </a:r>
            <a:endParaRPr lang="en-US" sz="900" dirty="0"/>
          </a:p>
        </p:txBody>
      </p:sp>
      <p:sp>
        <p:nvSpPr>
          <p:cNvPr id="28" name="Shape 23"/>
          <p:cNvSpPr/>
          <p:nvPr/>
        </p:nvSpPr>
        <p:spPr>
          <a:xfrm>
            <a:off x="457200" y="2761488"/>
            <a:ext cx="269748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457200" y="2761488"/>
            <a:ext cx="54864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2880360"/>
            <a:ext cx="274320" cy="27432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960120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音效</a:t>
            </a:r>
            <a:endParaRPr lang="en-US" sz="950" dirty="0"/>
          </a:p>
        </p:txBody>
      </p:sp>
      <p:sp>
        <p:nvSpPr>
          <p:cNvPr id="32" name="Text 26"/>
          <p:cNvSpPr/>
          <p:nvPr/>
        </p:nvSpPr>
        <p:spPr>
          <a:xfrm>
            <a:off x="960120" y="30540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 Audio API 程序化合成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621792" y="33284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零延迟 · 动态参数 · 连击升调</a:t>
            </a:r>
            <a:endParaRPr lang="en-US" sz="900" dirty="0"/>
          </a:p>
        </p:txBody>
      </p:sp>
      <p:sp>
        <p:nvSpPr>
          <p:cNvPr id="34" name="Shape 28"/>
          <p:cNvSpPr/>
          <p:nvPr/>
        </p:nvSpPr>
        <p:spPr>
          <a:xfrm>
            <a:off x="3319272" y="2761488"/>
            <a:ext cx="269748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3319272" y="2761488"/>
            <a:ext cx="54864" cy="8686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3864" y="2880360"/>
            <a:ext cx="274320" cy="274320"/>
          </a:xfrm>
          <a:prstGeom prst="rect">
            <a:avLst/>
          </a:prstGeom>
        </p:spPr>
      </p:pic>
      <p:sp>
        <p:nvSpPr>
          <p:cNvPr id="37" name="Text 30"/>
          <p:cNvSpPr/>
          <p:nvPr/>
        </p:nvSpPr>
        <p:spPr>
          <a:xfrm>
            <a:off x="3822192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C48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BGM</a:t>
            </a:r>
            <a:endParaRPr lang="en-US" sz="950" dirty="0"/>
          </a:p>
        </p:txBody>
      </p:sp>
      <p:sp>
        <p:nvSpPr>
          <p:cNvPr id="38" name="Text 31"/>
          <p:cNvSpPr/>
          <p:nvPr/>
        </p:nvSpPr>
        <p:spPr>
          <a:xfrm>
            <a:off x="3822192" y="30540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MP3 文件 (按主题组织)</a:t>
            </a:r>
            <a:endParaRPr lang="en-US" sz="1200" dirty="0"/>
          </a:p>
        </p:txBody>
      </p:sp>
      <p:sp>
        <p:nvSpPr>
          <p:cNvPr id="39" name="Text 32"/>
          <p:cNvSpPr/>
          <p:nvPr/>
        </p:nvSpPr>
        <p:spPr>
          <a:xfrm>
            <a:off x="3483864" y="33284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旋律质感非合成可比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181344" y="2761488"/>
            <a:ext cx="269748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4"/>
          <p:cNvSpPr/>
          <p:nvPr/>
        </p:nvSpPr>
        <p:spPr>
          <a:xfrm>
            <a:off x="6181344" y="2761488"/>
            <a:ext cx="54864" cy="86868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2880360"/>
            <a:ext cx="274320" cy="274320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6684264" y="2834640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持久化</a:t>
            </a:r>
            <a:endParaRPr lang="en-US" sz="950" dirty="0"/>
          </a:p>
        </p:txBody>
      </p:sp>
      <p:sp>
        <p:nvSpPr>
          <p:cNvPr id="44" name="Text 36"/>
          <p:cNvSpPr/>
          <p:nvPr/>
        </p:nvSpPr>
        <p:spPr>
          <a:xfrm>
            <a:off x="6684264" y="3054096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localStorage</a:t>
            </a:r>
            <a:endParaRPr lang="en-US" sz="1200" dirty="0"/>
          </a:p>
        </p:txBody>
      </p:sp>
      <p:sp>
        <p:nvSpPr>
          <p:cNvPr id="45" name="Text 37"/>
          <p:cNvSpPr/>
          <p:nvPr/>
        </p:nvSpPr>
        <p:spPr>
          <a:xfrm>
            <a:off x="6345936" y="3328416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游戏进度 · 道具 · 设置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457200" y="3739896"/>
            <a:ext cx="269748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7" name="Shape 39"/>
          <p:cNvSpPr/>
          <p:nvPr/>
        </p:nvSpPr>
        <p:spPr>
          <a:xfrm>
            <a:off x="457200" y="3739896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3858768"/>
            <a:ext cx="274320" cy="27432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960120" y="38130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排行榜</a:t>
            </a:r>
            <a:endParaRPr lang="en-US" sz="950" dirty="0"/>
          </a:p>
        </p:txBody>
      </p:sp>
      <p:sp>
        <p:nvSpPr>
          <p:cNvPr id="50" name="Text 41"/>
          <p:cNvSpPr/>
          <p:nvPr/>
        </p:nvSpPr>
        <p:spPr>
          <a:xfrm>
            <a:off x="960120" y="40325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 免费层</a:t>
            </a:r>
            <a:endParaRPr lang="en-US" sz="1200" dirty="0"/>
          </a:p>
        </p:txBody>
      </p:sp>
      <p:sp>
        <p:nvSpPr>
          <p:cNvPr id="51" name="Text 42"/>
          <p:cNvSpPr/>
          <p:nvPr/>
        </p:nvSpPr>
        <p:spPr>
          <a:xfrm>
            <a:off x="621792" y="4306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PostgreSQL + REST · 0 元/月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3319272" y="3739896"/>
            <a:ext cx="269748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3" name="Shape 44"/>
          <p:cNvSpPr/>
          <p:nvPr/>
        </p:nvSpPr>
        <p:spPr>
          <a:xfrm>
            <a:off x="3319272" y="3739896"/>
            <a:ext cx="54864" cy="8686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83864" y="3858768"/>
            <a:ext cx="274320" cy="274320"/>
          </a:xfrm>
          <a:prstGeom prst="rect">
            <a:avLst/>
          </a:prstGeom>
        </p:spPr>
      </p:pic>
      <p:sp>
        <p:nvSpPr>
          <p:cNvPr id="55" name="Text 45"/>
          <p:cNvSpPr/>
          <p:nvPr/>
        </p:nvSpPr>
        <p:spPr>
          <a:xfrm>
            <a:off x="3822192" y="38130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</a:t>
            </a:r>
            <a:endParaRPr lang="en-US" sz="950" dirty="0"/>
          </a:p>
        </p:txBody>
      </p:sp>
      <p:sp>
        <p:nvSpPr>
          <p:cNvPr id="56" name="Text 46"/>
          <p:cNvSpPr/>
          <p:nvPr/>
        </p:nvSpPr>
        <p:spPr>
          <a:xfrm>
            <a:off x="3822192" y="40325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Pages</a:t>
            </a:r>
            <a:endParaRPr lang="en-US" sz="1200" dirty="0"/>
          </a:p>
        </p:txBody>
      </p:sp>
      <p:sp>
        <p:nvSpPr>
          <p:cNvPr id="57" name="Text 47"/>
          <p:cNvSpPr/>
          <p:nvPr/>
        </p:nvSpPr>
        <p:spPr>
          <a:xfrm>
            <a:off x="3483864" y="4306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元 · 全球 CDN · 自动 HTTPS</a:t>
            </a:r>
            <a:endParaRPr lang="en-US" sz="900" dirty="0"/>
          </a:p>
        </p:txBody>
      </p:sp>
      <p:sp>
        <p:nvSpPr>
          <p:cNvPr id="58" name="Shape 48"/>
          <p:cNvSpPr/>
          <p:nvPr/>
        </p:nvSpPr>
        <p:spPr>
          <a:xfrm>
            <a:off x="6181344" y="3739896"/>
            <a:ext cx="2697480" cy="8686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59" name="Shape 49"/>
          <p:cNvSpPr/>
          <p:nvPr/>
        </p:nvSpPr>
        <p:spPr>
          <a:xfrm>
            <a:off x="6181344" y="3739896"/>
            <a:ext cx="54864" cy="8686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6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45936" y="3858768"/>
            <a:ext cx="274320" cy="274320"/>
          </a:xfrm>
          <a:prstGeom prst="rect">
            <a:avLst/>
          </a:prstGeom>
        </p:spPr>
      </p:pic>
      <p:sp>
        <p:nvSpPr>
          <p:cNvPr id="61" name="Text 50"/>
          <p:cNvSpPr/>
          <p:nvPr/>
        </p:nvSpPr>
        <p:spPr>
          <a:xfrm>
            <a:off x="6684264" y="3813048"/>
            <a:ext cx="2148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6B6D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离线支持</a:t>
            </a:r>
            <a:endParaRPr lang="en-US" sz="950" dirty="0"/>
          </a:p>
        </p:txBody>
      </p:sp>
      <p:sp>
        <p:nvSpPr>
          <p:cNvPr id="62" name="Text 51"/>
          <p:cNvSpPr/>
          <p:nvPr/>
        </p:nvSpPr>
        <p:spPr>
          <a:xfrm>
            <a:off x="6684264" y="4032504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Worker</a:t>
            </a:r>
            <a:endParaRPr lang="en-US" sz="1200" dirty="0"/>
          </a:p>
        </p:txBody>
      </p:sp>
      <p:sp>
        <p:nvSpPr>
          <p:cNvPr id="63" name="Text 52"/>
          <p:cNvSpPr/>
          <p:nvPr/>
        </p:nvSpPr>
        <p:spPr>
          <a:xfrm>
            <a:off x="6345936" y="4306824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三级缓存策略 · PWA 完整支持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solidFill>
            <a:srgbClr val="1E1B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5" name="Text 5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零构建</a:t>
            </a:r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·  整个项目可以直接双击 </a:t>
            </a:r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index.html</a:t>
            </a:r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运行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项目规模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项目规模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用最小的代码,做最完整的产品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187452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737360"/>
            <a:ext cx="1874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190195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457200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元/月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816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后端 + 部署成本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496312" y="1737360"/>
            <a:ext cx="187452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496312" y="1737360"/>
            <a:ext cx="187452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96312" y="190195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2496312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496312" y="2816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关卡范围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35424" y="1737360"/>
            <a:ext cx="187452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35424" y="1737360"/>
            <a:ext cx="1874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35424" y="190195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4535424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35424" y="2816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JS 模块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74536" y="1737360"/>
            <a:ext cx="187452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74536" y="1737360"/>
            <a:ext cx="1874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74536" y="1901952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28" name="Text 26"/>
          <p:cNvSpPr/>
          <p:nvPr/>
        </p:nvSpPr>
        <p:spPr>
          <a:xfrm>
            <a:off x="6574536" y="2560320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套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74536" y="2816352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游戏主题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3319272"/>
            <a:ext cx="187452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319272"/>
            <a:ext cx="187452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8386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3800" dirty="0"/>
          </a:p>
        </p:txBody>
      </p:sp>
      <p:sp>
        <p:nvSpPr>
          <p:cNvPr id="33" name="Text 31"/>
          <p:cNvSpPr/>
          <p:nvPr/>
        </p:nvSpPr>
        <p:spPr>
          <a:xfrm>
            <a:off x="457200" y="41422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种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43982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道具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496312" y="3319272"/>
            <a:ext cx="187452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496312" y="3319272"/>
            <a:ext cx="1874520" cy="36576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496312" y="348386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3800" dirty="0"/>
          </a:p>
        </p:txBody>
      </p:sp>
      <p:sp>
        <p:nvSpPr>
          <p:cNvPr id="38" name="Text 36"/>
          <p:cNvSpPr/>
          <p:nvPr/>
        </p:nvSpPr>
        <p:spPr>
          <a:xfrm>
            <a:off x="2496312" y="41422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篇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496312" y="43982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设计文档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535424" y="3319272"/>
            <a:ext cx="187452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535424" y="3319272"/>
            <a:ext cx="1874520" cy="36576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35424" y="348386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4535424" y="41422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个外依赖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35424" y="43982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PixiJS (CDN)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574536" y="3319272"/>
            <a:ext cx="1874520" cy="1417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574536" y="3319272"/>
            <a:ext cx="1874520" cy="36576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74536" y="3483864"/>
            <a:ext cx="1874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48" name="Text 46"/>
          <p:cNvSpPr/>
          <p:nvPr/>
        </p:nvSpPr>
        <p:spPr>
          <a:xfrm>
            <a:off x="6574536" y="4142232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个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6574536" y="4398264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构建工具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5965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4730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3496" y="292608"/>
            <a:ext cx="139903" cy="139903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955280" y="2743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417320" y="29260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 · TAKEAWAYS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 个关键词,带走整个项目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1207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从一份文档浓缩到 5 个支柱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920240"/>
            <a:ext cx="1591056" cy="24688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11480" y="1920240"/>
            <a:ext cx="1591056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92024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11480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纯净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411480" y="312724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31520" y="3474720"/>
            <a:ext cx="9509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661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无广告 · 零注册 · 打开即玩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093976" y="1920240"/>
            <a:ext cx="1591056" cy="24688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093976" y="1920240"/>
            <a:ext cx="1591056" cy="640080"/>
          </a:xfrm>
          <a:prstGeom prst="rect">
            <a:avLst/>
          </a:prstGeom>
          <a:solidFill>
            <a:srgbClr val="10B98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093976" y="192024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2093976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零成本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2093976" y="312724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COST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414016" y="3474720"/>
            <a:ext cx="9509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231136" y="35661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Supabase + GitHub Pages = 0 元/月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776472" y="1920240"/>
            <a:ext cx="1591056" cy="24688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776472" y="1920240"/>
            <a:ext cx="1591056" cy="640080"/>
          </a:xfrm>
          <a:prstGeom prst="rect">
            <a:avLst/>
          </a:prstGeom>
          <a:solidFill>
            <a:srgbClr val="8B5CF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76472" y="192024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3776472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</a:t>
            </a:r>
            <a:endParaRPr lang="en-US" sz="1900" dirty="0"/>
          </a:p>
        </p:txBody>
      </p:sp>
      <p:sp>
        <p:nvSpPr>
          <p:cNvPr id="28" name="Text 26"/>
          <p:cNvSpPr/>
          <p:nvPr/>
        </p:nvSpPr>
        <p:spPr>
          <a:xfrm>
            <a:off x="3776472" y="312724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DRIVEN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096512" y="3474720"/>
            <a:ext cx="9509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13632" y="35661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难度、道具、主题都是配置表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58968" y="1920240"/>
            <a:ext cx="1591056" cy="24688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458968" y="1920240"/>
            <a:ext cx="1591056" cy="640080"/>
          </a:xfrm>
          <a:prstGeom prst="rect">
            <a:avLst/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58968" y="192024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5458968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数学严谨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5458968" y="312724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779008" y="3474720"/>
            <a:ext cx="9509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96128" y="35661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 + 求解器双重保证可解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7141464" y="1920240"/>
            <a:ext cx="1591056" cy="2468880"/>
          </a:xfrm>
          <a:prstGeom prst="rect">
            <a:avLst/>
          </a:prstGeom>
          <a:solidFill>
            <a:srgbClr val="FAFAF9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41464" y="1920240"/>
            <a:ext cx="1591056" cy="640080"/>
          </a:xfrm>
          <a:prstGeom prst="rect">
            <a:avLst/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41464" y="1920240"/>
            <a:ext cx="1591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800" dirty="0"/>
          </a:p>
        </p:txBody>
      </p:sp>
      <p:sp>
        <p:nvSpPr>
          <p:cNvPr id="41" name="Text 39"/>
          <p:cNvSpPr/>
          <p:nvPr/>
        </p:nvSpPr>
        <p:spPr>
          <a:xfrm>
            <a:off x="7141464" y="2697480"/>
            <a:ext cx="1591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极致细节</a:t>
            </a:r>
            <a:endParaRPr lang="en-US" sz="1900" dirty="0"/>
          </a:p>
        </p:txBody>
      </p:sp>
      <p:sp>
        <p:nvSpPr>
          <p:cNvPr id="42" name="Text 40"/>
          <p:cNvSpPr/>
          <p:nvPr/>
        </p:nvSpPr>
        <p:spPr>
          <a:xfrm>
            <a:off x="7141464" y="3127248"/>
            <a:ext cx="1591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300" kern="0" dirty="0">
                <a:solidFill>
                  <a:srgbClr val="EC4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61504" y="3474720"/>
            <a:ext cx="950976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78624" y="3566160"/>
            <a:ext cx="131673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心理学 · 性能 · 缓存 · 移动端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1B4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97510" cy="19751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09574" y="457200"/>
            <a:ext cx="197510" cy="197510"/>
          </a:xfrm>
          <a:prstGeom prst="roundRect">
            <a:avLst>
              <a:gd name="adj" fmla="val 22222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1949" y="457200"/>
            <a:ext cx="197510" cy="197510"/>
          </a:xfrm>
          <a:prstGeom prst="roundRect">
            <a:avLst>
              <a:gd name="adj" fmla="val 2222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14323" y="457200"/>
            <a:ext cx="197510" cy="197510"/>
          </a:xfrm>
          <a:prstGeom prst="roundRect">
            <a:avLst>
              <a:gd name="adj" fmla="val 22222"/>
            </a:avLst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0" y="2926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5000" y="2926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C4899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0" y="2926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6B6D4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086600" y="2926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8B5CF6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0" y="2926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0B981">
              <a:alpha val="4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029200" y="3611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C4899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715000" y="3611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6B6D4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0800" y="3611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8B5CF6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086600" y="3611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0B981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3611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3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0" y="4297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6B6D4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715000" y="4297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8B5CF6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0" y="4297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0B981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086600" y="4297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0" y="42976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C4899">
              <a:alpha val="2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715000" y="3611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F59E0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0" y="29260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C48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86600" y="3611880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Thanks</a:t>
            </a:r>
            <a:endParaRPr lang="en-US" sz="9600" dirty="0"/>
          </a:p>
        </p:txBody>
      </p:sp>
      <p:sp>
        <p:nvSpPr>
          <p:cNvPr id="25" name="Text 23"/>
          <p:cNvSpPr/>
          <p:nvPr/>
        </p:nvSpPr>
        <p:spPr>
          <a:xfrm>
            <a:off x="457200" y="24688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感谢观看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457200" y="3200400"/>
            <a:ext cx="1371600" cy="0"/>
          </a:xfrm>
          <a:prstGeom prst="line">
            <a:avLst/>
          </a:prstGeom>
          <a:noFill/>
          <a:ln w="25400">
            <a:solidFill>
              <a:srgbClr val="F59E0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Explorer Web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57200" y="3657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一份关于产品定力与工程深度的实践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Tile Explorer Web — 项目亮点</dc:title>
  <dc:subject>PptxGenJS Presentation</dc:subject>
  <dc:creator>Tile Explorer Web</dc:creator>
  <cp:lastModifiedBy>Tile Explorer Web</cp:lastModifiedBy>
  <cp:revision>1</cp:revision>
  <dcterms:created xsi:type="dcterms:W3CDTF">2026-04-27T05:03:50Z</dcterms:created>
  <dcterms:modified xsi:type="dcterms:W3CDTF">2026-04-27T05:03:50Z</dcterms:modified>
</cp:coreProperties>
</file>